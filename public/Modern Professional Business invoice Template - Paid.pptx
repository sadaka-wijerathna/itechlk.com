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7556500" cy="10693400"/>
  <p:notesSz cx="6858000" cy="9144000"/>
  <p:embeddedFontLst>
    <p:embeddedFont>
      <p:font typeface="Montserrat" panose="00000500000000000000" pitchFamily="2" charset="0"/>
      <p:regular r:id="rId4"/>
    </p:embeddedFont>
    <p:embeddedFont>
      <p:font typeface="Montserrat Bold" panose="00000800000000000000" charset="0"/>
      <p:regular r:id="rId5"/>
    </p:embeddedFont>
    <p:embeddedFont>
      <p:font typeface="Open Sans" panose="020B0606030504020204" pitchFamily="34" charset="0"/>
      <p:regular r:id="rId6"/>
      <p:bold r:id="rId7"/>
      <p:italic r:id="rId8"/>
      <p:boldItalic r:id="rId9"/>
    </p:embeddedFont>
    <p:embeddedFont>
      <p:font typeface="Open Sans Bold" panose="020B0806030504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00" d="100"/>
          <a:sy n="400" d="100"/>
        </p:scale>
        <p:origin x="72" y="-218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68FC07-0FCB-4E81-83EA-8013CB460693}" type="datetimeFigureOut">
              <a:rPr lang="en-US" smtClean="0"/>
              <a:t>6/10/2026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B3E71-B1D6-4917-BE66-B4041569C8BE}" type="slidenum">
              <a:rPr lang="en-US" smtClean="0"/>
              <a:t>‹#›</a:t>
            </a:fld>
            <a:endParaRPr lang="en-US"/>
          </a:p>
        </p:txBody>
      </p:sp>
    </p:spTree>
    <p:extLst>
      <p:ext uri="{BB962C8B-B14F-4D97-AF65-F5344CB8AC3E}">
        <p14:creationId xmlns:p14="http://schemas.microsoft.com/office/powerpoint/2010/main" val="3986342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5B3E71-B1D6-4917-BE66-B4041569C8BE}" type="slidenum">
              <a:rPr lang="en-US" smtClean="0"/>
              <a:t>1</a:t>
            </a:fld>
            <a:endParaRPr lang="en-US"/>
          </a:p>
        </p:txBody>
      </p:sp>
    </p:spTree>
    <p:extLst>
      <p:ext uri="{BB962C8B-B14F-4D97-AF65-F5344CB8AC3E}">
        <p14:creationId xmlns:p14="http://schemas.microsoft.com/office/powerpoint/2010/main" val="1390625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3ED96D48-C8F2-98F0-05F0-599B243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9850" y="10297242"/>
            <a:ext cx="2421798" cy="601293"/>
          </a:xfrm>
          <a:prstGeom prst="rect">
            <a:avLst/>
          </a:prstGeom>
        </p:spPr>
      </p:pic>
      <p:pic>
        <p:nvPicPr>
          <p:cNvPr id="39" name="Picture 38">
            <a:extLst>
              <a:ext uri="{FF2B5EF4-FFF2-40B4-BE49-F238E27FC236}">
                <a16:creationId xmlns:a16="http://schemas.microsoft.com/office/drawing/2014/main" id="{DB3D14D1-7DD2-DBBF-EF9E-16785D7F4F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8393" y="10297242"/>
            <a:ext cx="2421798" cy="601293"/>
          </a:xfrm>
          <a:prstGeom prst="rect">
            <a:avLst/>
          </a:prstGeom>
        </p:spPr>
      </p:pic>
      <p:grpSp>
        <p:nvGrpSpPr>
          <p:cNvPr id="8" name="Group 8"/>
          <p:cNvGrpSpPr/>
          <p:nvPr/>
        </p:nvGrpSpPr>
        <p:grpSpPr>
          <a:xfrm>
            <a:off x="1759048" y="9483657"/>
            <a:ext cx="231448" cy="231448"/>
            <a:chOff x="0" y="0"/>
            <a:chExt cx="1913890" cy="1913890"/>
          </a:xfrm>
        </p:grpSpPr>
        <p:sp>
          <p:nvSpPr>
            <p:cNvPr id="9" name="Freeform 9"/>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1A8C9"/>
            </a:solidFill>
          </p:spPr>
          <p:txBody>
            <a:bodyPr/>
            <a:lstStyle/>
            <a:p>
              <a:endParaRPr lang="en-US"/>
            </a:p>
          </p:txBody>
        </p:sp>
      </p:grpSp>
      <p:grpSp>
        <p:nvGrpSpPr>
          <p:cNvPr id="11" name="Group 11"/>
          <p:cNvGrpSpPr/>
          <p:nvPr/>
        </p:nvGrpSpPr>
        <p:grpSpPr>
          <a:xfrm>
            <a:off x="3090470" y="9483657"/>
            <a:ext cx="231448" cy="231448"/>
            <a:chOff x="0" y="0"/>
            <a:chExt cx="1913890" cy="1913890"/>
          </a:xfrm>
        </p:grpSpPr>
        <p:sp>
          <p:nvSpPr>
            <p:cNvPr id="12" name="Freeform 12"/>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1A8C9"/>
            </a:solidFill>
          </p:spPr>
          <p:txBody>
            <a:bodyPr/>
            <a:lstStyle/>
            <a:p>
              <a:endParaRPr lang="en-US"/>
            </a:p>
          </p:txBody>
        </p:sp>
      </p:grpSp>
      <p:grpSp>
        <p:nvGrpSpPr>
          <p:cNvPr id="14" name="Group 14"/>
          <p:cNvGrpSpPr/>
          <p:nvPr/>
        </p:nvGrpSpPr>
        <p:grpSpPr>
          <a:xfrm>
            <a:off x="4649749" y="9483657"/>
            <a:ext cx="231448" cy="231448"/>
            <a:chOff x="0" y="0"/>
            <a:chExt cx="1913890" cy="1913890"/>
          </a:xfrm>
        </p:grpSpPr>
        <p:sp>
          <p:nvSpPr>
            <p:cNvPr id="15" name="Freeform 15"/>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1A8C9"/>
            </a:solidFill>
          </p:spPr>
          <p:txBody>
            <a:bodyPr/>
            <a:lstStyle/>
            <a:p>
              <a:endParaRPr lang="en-US"/>
            </a:p>
          </p:txBody>
        </p:sp>
      </p:grpSp>
      <p:grpSp>
        <p:nvGrpSpPr>
          <p:cNvPr id="17" name="Group 17"/>
          <p:cNvGrpSpPr/>
          <p:nvPr/>
        </p:nvGrpSpPr>
        <p:grpSpPr>
          <a:xfrm>
            <a:off x="755909" y="3223662"/>
            <a:ext cx="6048207" cy="307026"/>
            <a:chOff x="0" y="0"/>
            <a:chExt cx="3002180" cy="152400"/>
          </a:xfrm>
        </p:grpSpPr>
        <p:sp>
          <p:nvSpPr>
            <p:cNvPr id="18" name="Freeform 18"/>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303642"/>
            </a:solidFill>
          </p:spPr>
          <p:txBody>
            <a:bodyPr/>
            <a:lstStyle/>
            <a:p>
              <a:endParaRPr lang="en-US"/>
            </a:p>
          </p:txBody>
        </p:sp>
      </p:grpSp>
      <p:grpSp>
        <p:nvGrpSpPr>
          <p:cNvPr id="19" name="Group 19"/>
          <p:cNvGrpSpPr/>
          <p:nvPr/>
        </p:nvGrpSpPr>
        <p:grpSpPr>
          <a:xfrm>
            <a:off x="755909" y="3699829"/>
            <a:ext cx="6048207" cy="307026"/>
            <a:chOff x="0" y="0"/>
            <a:chExt cx="3002180" cy="152400"/>
          </a:xfrm>
        </p:grpSpPr>
        <p:sp>
          <p:nvSpPr>
            <p:cNvPr id="20" name="Freeform 20"/>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{{ITEM_1_BG}}</a:t>
              </a:r>
            </a:p>
          </p:txBody>
        </p:sp>
      </p:grpSp>
      <p:grpSp>
        <p:nvGrpSpPr>
          <p:cNvPr id="21" name="Group 21"/>
          <p:cNvGrpSpPr/>
          <p:nvPr/>
        </p:nvGrpSpPr>
        <p:grpSpPr>
          <a:xfrm>
            <a:off x="755909" y="4079147"/>
            <a:ext cx="6048207" cy="307026"/>
            <a:chOff x="0" y="0"/>
            <a:chExt cx="3002180" cy="152400"/>
          </a:xfrm>
        </p:grpSpPr>
        <p:sp>
          <p:nvSpPr>
            <p:cNvPr id="22" name="Freeform 22"/>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{{ITEM_2_BG}}</a:t>
              </a:r>
            </a:p>
          </p:txBody>
        </p:sp>
      </p:grpSp>
      <p:sp>
        <p:nvSpPr>
          <p:cNvPr id="27" name="AutoShape 27"/>
          <p:cNvSpPr/>
          <p:nvPr/>
        </p:nvSpPr>
        <p:spPr>
          <a:xfrm>
            <a:off x="755883" y="7410545"/>
            <a:ext cx="6048000" cy="0"/>
          </a:xfrm>
          <a:prstGeom prst="line">
            <a:avLst/>
          </a:prstGeom>
          <a:ln w="9525" cap="flat">
            <a:solidFill>
              <a:srgbClr val="000000"/>
            </a:solidFill>
            <a:prstDash val="solid"/>
            <a:headEnd type="none" w="sm" len="sm"/>
            <a:tailEnd type="none" w="sm" len="sm"/>
          </a:ln>
        </p:spPr>
        <p:txBody>
          <a:bodyPr/>
          <a:lstStyle/>
          <a:p>
            <a:endParaRPr lang="en-US"/>
          </a:p>
        </p:txBody>
      </p:sp>
      <p:sp>
        <p:nvSpPr>
          <p:cNvPr id="28" name="AutoShape 28"/>
          <p:cNvSpPr/>
          <p:nvPr/>
        </p:nvSpPr>
        <p:spPr>
          <a:xfrm>
            <a:off x="755883" y="2993212"/>
            <a:ext cx="6048000" cy="0"/>
          </a:xfrm>
          <a:prstGeom prst="line">
            <a:avLst/>
          </a:prstGeom>
          <a:ln w="9525" cap="flat">
            <a:solidFill>
              <a:srgbClr val="000000"/>
            </a:solidFill>
            <a:prstDash val="solid"/>
            <a:headEnd type="none" w="sm" len="sm"/>
            <a:tailEnd type="none" w="sm" len="sm"/>
          </a:ln>
        </p:spPr>
        <p:txBody>
          <a:bodyPr/>
          <a:lstStyle/>
          <a:p>
            <a:endParaRPr lang="en-US"/>
          </a:p>
        </p:txBody>
      </p:sp>
      <p:sp>
        <p:nvSpPr>
          <p:cNvPr id="29" name="Freeform 29"/>
          <p:cNvSpPr/>
          <p:nvPr/>
        </p:nvSpPr>
        <p:spPr>
          <a:xfrm>
            <a:off x="755883" y="832604"/>
            <a:ext cx="1954510" cy="342574"/>
          </a:xfrm>
          <a:custGeom>
            <a:avLst/>
            <a:gdLst/>
            <a:ahLst/>
            <a:cxnLst/>
            <a:rect l="l" t="t" r="r" b="b"/>
            <a:pathLst>
              <a:path w="1954510" h="342574">
                <a:moveTo>
                  <a:pt x="0" y="0"/>
                </a:moveTo>
                <a:lnTo>
                  <a:pt x="1954510" y="0"/>
                </a:lnTo>
                <a:lnTo>
                  <a:pt x="1954510" y="342574"/>
                </a:lnTo>
                <a:lnTo>
                  <a:pt x="0" y="342574"/>
                </a:lnTo>
                <a:lnTo>
                  <a:pt x="0" y="0"/>
                </a:lnTo>
                <a:close/>
              </a:path>
            </a:pathLst>
          </a:custGeom>
          <a:blipFill>
            <a:blip r:embed="rId5"/>
            <a:stretch>
              <a:fillRect/>
            </a:stretch>
          </a:blipFill>
        </p:spPr>
        <p:txBody>
          <a:bodyPr/>
          <a:lstStyle/>
          <a:p>
            <a:endParaRPr lang="en-US"/>
          </a:p>
        </p:txBody>
      </p:sp>
      <p:sp>
        <p:nvSpPr>
          <p:cNvPr id="30" name="TextBox 30"/>
          <p:cNvSpPr txBox="1"/>
          <p:nvPr/>
        </p:nvSpPr>
        <p:spPr>
          <a:xfrm>
            <a:off x="2038881" y="9533239"/>
            <a:ext cx="820380" cy="109710"/>
          </a:xfrm>
          <a:prstGeom prst="rect">
            <a:avLst/>
          </a:prstGeom>
        </p:spPr>
        <p:txBody>
          <a:bodyPr lIns="0" tIns="0" rIns="0" bIns="0" rtlCol="0" anchor="t">
            <a:spAutoFit/>
          </a:bodyPr>
          <a:lstStyle/>
          <a:p>
            <a:pPr algn="l">
              <a:lnSpc>
                <a:spcPts val="938"/>
              </a:lnSpc>
            </a:pPr>
            <a:r>
              <a:rPr lang="en-US" sz="700" spc="11" dirty="0">
                <a:solidFill>
                  <a:srgbClr val="303642"/>
                </a:solidFill>
                <a:latin typeface="Open Sans"/>
                <a:ea typeface="Open Sans"/>
                <a:cs typeface="Open Sans"/>
                <a:sym typeface="Open Sans"/>
              </a:rPr>
              <a:t>+94 74 257 0943</a:t>
            </a:r>
          </a:p>
        </p:txBody>
      </p:sp>
      <p:sp>
        <p:nvSpPr>
          <p:cNvPr id="31" name="TextBox 31"/>
          <p:cNvSpPr txBox="1"/>
          <p:nvPr/>
        </p:nvSpPr>
        <p:spPr>
          <a:xfrm>
            <a:off x="4956851" y="9461500"/>
            <a:ext cx="1196973" cy="266235"/>
          </a:xfrm>
          <a:prstGeom prst="rect">
            <a:avLst/>
          </a:prstGeom>
        </p:spPr>
        <p:txBody>
          <a:bodyPr lIns="0" tIns="0" rIns="0" bIns="0" rtlCol="0" anchor="t">
            <a:spAutoFit/>
          </a:bodyPr>
          <a:lstStyle/>
          <a:p>
            <a:pPr algn="l">
              <a:lnSpc>
                <a:spcPts val="1072"/>
              </a:lnSpc>
            </a:pPr>
            <a:r>
              <a:rPr lang="en-US" sz="800" spc="12">
                <a:solidFill>
                  <a:srgbClr val="303642"/>
                </a:solidFill>
                <a:latin typeface="Open Sans"/>
                <a:ea typeface="Open Sans"/>
                <a:cs typeface="Open Sans"/>
                <a:sym typeface="Open Sans"/>
              </a:rPr>
              <a:t>Dewalegma, Dellawa, Morawaka</a:t>
            </a:r>
          </a:p>
        </p:txBody>
      </p:sp>
      <p:sp>
        <p:nvSpPr>
          <p:cNvPr id="32" name="TextBox 32"/>
          <p:cNvSpPr txBox="1"/>
          <p:nvPr/>
        </p:nvSpPr>
        <p:spPr>
          <a:xfrm>
            <a:off x="3388477" y="9520004"/>
            <a:ext cx="1304173" cy="130768"/>
          </a:xfrm>
          <a:prstGeom prst="rect">
            <a:avLst/>
          </a:prstGeom>
        </p:spPr>
        <p:txBody>
          <a:bodyPr lIns="0" tIns="0" rIns="0" bIns="0" rtlCol="0" anchor="t">
            <a:spAutoFit/>
          </a:bodyPr>
          <a:lstStyle/>
          <a:p>
            <a:pPr algn="l">
              <a:lnSpc>
                <a:spcPts val="1072"/>
              </a:lnSpc>
            </a:pPr>
            <a:r>
              <a:rPr lang="en-US" sz="800" spc="12">
                <a:solidFill>
                  <a:srgbClr val="303642"/>
                </a:solidFill>
                <a:latin typeface="Open Sans"/>
                <a:ea typeface="Open Sans"/>
                <a:cs typeface="Open Sans"/>
                <a:sym typeface="Open Sans"/>
              </a:rPr>
              <a:t>www.itechlk.com</a:t>
            </a:r>
          </a:p>
        </p:txBody>
      </p:sp>
      <p:sp>
        <p:nvSpPr>
          <p:cNvPr id="33" name="TextBox 33"/>
          <p:cNvSpPr txBox="1"/>
          <p:nvPr/>
        </p:nvSpPr>
        <p:spPr>
          <a:xfrm>
            <a:off x="823786" y="7899759"/>
            <a:ext cx="5888612" cy="1025922"/>
          </a:xfrm>
          <a:prstGeom prst="rect">
            <a:avLst/>
          </a:prstGeom>
        </p:spPr>
        <p:txBody>
          <a:bodyPr lIns="0" tIns="0" rIns="0" bIns="0" rtlCol="0" anchor="t">
            <a:spAutoFit/>
          </a:bodyPr>
          <a:lstStyle/>
          <a:p>
            <a:pPr algn="just">
              <a:lnSpc>
                <a:spcPts val="839"/>
              </a:lnSpc>
            </a:pPr>
            <a:r>
              <a:rPr lang="en-US" sz="699" spc="7" dirty="0">
                <a:solidFill>
                  <a:srgbClr val="3D3D3D"/>
                </a:solidFill>
                <a:latin typeface="Montserrat"/>
                <a:ea typeface="Montserrat"/>
                <a:cs typeface="Montserrat"/>
                <a:sym typeface="Montserrat"/>
              </a:rPr>
              <a:t>Payment is due in full upon receipt of this invoice. All transactions are processed in Sri Lankan Rupees (LKR) unless otherwise stated. Once payment is confirmed, the purchased digital product or subscription will be activated within 24 hours. All sales are final — no refunds or exchanges on digital products and subscription-based services once delivered or activated, as these are non-tangible goods. Any delivery failure due to technical issues on our end will be resolved promptly at no additional cost. </a:t>
            </a:r>
            <a:r>
              <a:rPr lang="en-US" sz="699" spc="7" dirty="0" err="1">
                <a:solidFill>
                  <a:srgbClr val="3D3D3D"/>
                </a:solidFill>
                <a:latin typeface="Montserrat"/>
                <a:ea typeface="Montserrat"/>
                <a:cs typeface="Montserrat"/>
                <a:sym typeface="Montserrat"/>
              </a:rPr>
              <a:t>ITechLK</a:t>
            </a:r>
            <a:r>
              <a:rPr lang="en-US" sz="699" spc="7" dirty="0">
                <a:solidFill>
                  <a:srgbClr val="3D3D3D"/>
                </a:solidFill>
                <a:latin typeface="Montserrat"/>
                <a:ea typeface="Montserrat"/>
                <a:cs typeface="Montserrat"/>
                <a:sym typeface="Montserrat"/>
              </a:rPr>
              <a:t> reserves the right to suspend or terminate service in the event of chargebacks, fraudulent activity, or policy violations. This invoice serves as an official receipt of purchase. For any payment disputes, billing queries, or support requests, please contact us.</a:t>
            </a:r>
          </a:p>
          <a:p>
            <a:pPr algn="just">
              <a:lnSpc>
                <a:spcPts val="839"/>
              </a:lnSpc>
            </a:pPr>
            <a:endParaRPr lang="en-US" sz="699" spc="7" dirty="0">
              <a:solidFill>
                <a:srgbClr val="3D3D3D"/>
              </a:solidFill>
              <a:latin typeface="Montserrat"/>
              <a:ea typeface="Montserrat"/>
              <a:cs typeface="Montserrat"/>
              <a:sym typeface="Montserrat"/>
            </a:endParaRPr>
          </a:p>
          <a:p>
            <a:pPr algn="just">
              <a:lnSpc>
                <a:spcPts val="839"/>
              </a:lnSpc>
            </a:pPr>
            <a:r>
              <a:rPr lang="en-US" sz="699" spc="7" dirty="0">
                <a:solidFill>
                  <a:srgbClr val="3D3D3D"/>
                </a:solidFill>
                <a:latin typeface="Montserrat"/>
                <a:ea typeface="Montserrat"/>
                <a:cs typeface="Montserrat"/>
                <a:sym typeface="Montserrat"/>
              </a:rPr>
              <a:t>before initiating any dispute through your bank. By completing payment, the customer acknowledges and agrees to these terms and conditions.</a:t>
            </a:r>
          </a:p>
        </p:txBody>
      </p:sp>
      <p:sp>
        <p:nvSpPr>
          <p:cNvPr id="34" name="TextBox 34"/>
          <p:cNvSpPr txBox="1"/>
          <p:nvPr/>
        </p:nvSpPr>
        <p:spPr>
          <a:xfrm>
            <a:off x="844960" y="3288826"/>
            <a:ext cx="685829"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PRODUCT</a:t>
            </a:r>
          </a:p>
        </p:txBody>
      </p:sp>
      <p:sp>
        <p:nvSpPr>
          <p:cNvPr id="35" name="TextBox 35"/>
          <p:cNvSpPr txBox="1"/>
          <p:nvPr/>
        </p:nvSpPr>
        <p:spPr>
          <a:xfrm>
            <a:off x="823786" y="7673369"/>
            <a:ext cx="1736207" cy="157647"/>
          </a:xfrm>
          <a:prstGeom prst="rect">
            <a:avLst/>
          </a:prstGeom>
        </p:spPr>
        <p:txBody>
          <a:bodyPr lIns="0" tIns="0" rIns="0" bIns="0" rtlCol="0" anchor="t">
            <a:spAutoFit/>
          </a:bodyPr>
          <a:lstStyle/>
          <a:p>
            <a:pPr algn="l">
              <a:lnSpc>
                <a:spcPts val="1285"/>
              </a:lnSpc>
            </a:pPr>
            <a:r>
              <a:rPr lang="en-US" sz="918" b="1" dirty="0">
                <a:solidFill>
                  <a:srgbClr val="3D3D3D"/>
                </a:solidFill>
                <a:latin typeface="Montserrat Bold"/>
                <a:ea typeface="Montserrat Bold"/>
                <a:cs typeface="Montserrat Bold"/>
                <a:sym typeface="Montserrat Bold"/>
              </a:rPr>
              <a:t>TERMS AND CONDITIONS</a:t>
            </a:r>
          </a:p>
        </p:txBody>
      </p:sp>
      <p:sp>
        <p:nvSpPr>
          <p:cNvPr id="36" name="TextBox 36"/>
          <p:cNvSpPr txBox="1"/>
          <p:nvPr/>
        </p:nvSpPr>
        <p:spPr>
          <a:xfrm>
            <a:off x="836550" y="3671983"/>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{{ITEM_1_NAME}}</a:t>
            </a:r>
          </a:p>
        </p:txBody>
      </p:sp>
      <p:sp>
        <p:nvSpPr>
          <p:cNvPr id="37" name="TextBox 37"/>
          <p:cNvSpPr txBox="1"/>
          <p:nvPr/>
        </p:nvSpPr>
        <p:spPr>
          <a:xfrm>
            <a:off x="836550" y="4051300"/>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{{ITEM_2_NAME}}</a:t>
            </a:r>
          </a:p>
        </p:txBody>
      </p:sp>
      <p:sp>
        <p:nvSpPr>
          <p:cNvPr id="43" name="TextBox 43"/>
          <p:cNvSpPr txBox="1"/>
          <p:nvPr/>
        </p:nvSpPr>
        <p:spPr>
          <a:xfrm>
            <a:off x="3803659" y="3660141"/>
            <a:ext cx="1574791"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{{ITEM_1_PRICE}}</a:t>
            </a:r>
          </a:p>
        </p:txBody>
      </p:sp>
      <p:sp>
        <p:nvSpPr>
          <p:cNvPr id="44" name="TextBox 44"/>
          <p:cNvSpPr txBox="1"/>
          <p:nvPr/>
        </p:nvSpPr>
        <p:spPr>
          <a:xfrm>
            <a:off x="5759450" y="3665832"/>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{{ITEM_1_TOTAL}}</a:t>
            </a:r>
          </a:p>
        </p:txBody>
      </p:sp>
      <p:sp>
        <p:nvSpPr>
          <p:cNvPr id="47" name="TextBox 47"/>
          <p:cNvSpPr txBox="1"/>
          <p:nvPr/>
        </p:nvSpPr>
        <p:spPr>
          <a:xfrm>
            <a:off x="3803659" y="4050346"/>
            <a:ext cx="1002019"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{{ITEM_2_PRICE}}</a:t>
            </a:r>
          </a:p>
        </p:txBody>
      </p:sp>
      <p:sp>
        <p:nvSpPr>
          <p:cNvPr id="48" name="TextBox 48"/>
          <p:cNvSpPr txBox="1"/>
          <p:nvPr/>
        </p:nvSpPr>
        <p:spPr>
          <a:xfrm>
            <a:off x="5773560" y="4057727"/>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{{ITEM_2_TOTAL}}</a:t>
            </a:r>
          </a:p>
        </p:txBody>
      </p:sp>
      <p:sp>
        <p:nvSpPr>
          <p:cNvPr id="57" name="TextBox 57"/>
          <p:cNvSpPr txBox="1"/>
          <p:nvPr/>
        </p:nvSpPr>
        <p:spPr>
          <a:xfrm>
            <a:off x="3834315" y="3288826"/>
            <a:ext cx="497154"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PRICE</a:t>
            </a:r>
          </a:p>
        </p:txBody>
      </p:sp>
      <p:sp>
        <p:nvSpPr>
          <p:cNvPr id="58" name="TextBox 58"/>
          <p:cNvSpPr txBox="1"/>
          <p:nvPr/>
        </p:nvSpPr>
        <p:spPr>
          <a:xfrm>
            <a:off x="5048014" y="3288826"/>
            <a:ext cx="294081"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QTY</a:t>
            </a:r>
          </a:p>
        </p:txBody>
      </p:sp>
      <p:sp>
        <p:nvSpPr>
          <p:cNvPr id="59" name="TextBox 59"/>
          <p:cNvSpPr txBox="1"/>
          <p:nvPr/>
        </p:nvSpPr>
        <p:spPr>
          <a:xfrm>
            <a:off x="5015396" y="6425775"/>
            <a:ext cx="807909" cy="242122"/>
          </a:xfrm>
          <a:prstGeom prst="rect">
            <a:avLst/>
          </a:prstGeom>
        </p:spPr>
        <p:txBody>
          <a:bodyPr lIns="0" tIns="0" rIns="0" bIns="0" rtlCol="0" anchor="t">
            <a:spAutoFit/>
          </a:bodyPr>
          <a:lstStyle/>
          <a:p>
            <a:pPr algn="r">
              <a:lnSpc>
                <a:spcPts val="2120"/>
              </a:lnSpc>
            </a:pPr>
            <a:r>
              <a:rPr lang="en-US" sz="918" b="1">
                <a:solidFill>
                  <a:srgbClr val="3D3D3D"/>
                </a:solidFill>
                <a:latin typeface="Montserrat Bold"/>
                <a:ea typeface="Montserrat Bold"/>
                <a:cs typeface="Montserrat Bold"/>
                <a:sym typeface="Montserrat Bold"/>
              </a:rPr>
              <a:t>SUBTOTAL </a:t>
            </a:r>
          </a:p>
        </p:txBody>
      </p:sp>
      <p:sp>
        <p:nvSpPr>
          <p:cNvPr id="60" name="TextBox 60"/>
          <p:cNvSpPr txBox="1"/>
          <p:nvPr/>
        </p:nvSpPr>
        <p:spPr>
          <a:xfrm>
            <a:off x="5015396" y="6697520"/>
            <a:ext cx="807909" cy="242122"/>
          </a:xfrm>
          <a:prstGeom prst="rect">
            <a:avLst/>
          </a:prstGeom>
        </p:spPr>
        <p:txBody>
          <a:bodyPr lIns="0" tIns="0" rIns="0" bIns="0" rtlCol="0" anchor="t">
            <a:spAutoFit/>
          </a:bodyPr>
          <a:lstStyle/>
          <a:p>
            <a:pPr algn="r">
              <a:lnSpc>
                <a:spcPts val="2120"/>
              </a:lnSpc>
            </a:pPr>
            <a:r>
              <a:rPr lang="en-US" sz="918" b="1">
                <a:solidFill>
                  <a:srgbClr val="3D3D3D"/>
                </a:solidFill>
                <a:latin typeface="Montserrat Bold"/>
                <a:ea typeface="Montserrat Bold"/>
                <a:cs typeface="Montserrat Bold"/>
                <a:sym typeface="Montserrat Bold"/>
              </a:rPr>
              <a:t>TAX</a:t>
            </a:r>
          </a:p>
        </p:txBody>
      </p:sp>
      <p:sp>
        <p:nvSpPr>
          <p:cNvPr id="61" name="TextBox 61"/>
          <p:cNvSpPr txBox="1"/>
          <p:nvPr/>
        </p:nvSpPr>
        <p:spPr>
          <a:xfrm>
            <a:off x="5015396" y="6944519"/>
            <a:ext cx="807909" cy="242122"/>
          </a:xfrm>
          <a:prstGeom prst="rect">
            <a:avLst/>
          </a:prstGeom>
        </p:spPr>
        <p:txBody>
          <a:bodyPr lIns="0" tIns="0" rIns="0" bIns="0" rtlCol="0" anchor="t">
            <a:spAutoFit/>
          </a:bodyPr>
          <a:lstStyle/>
          <a:p>
            <a:pPr algn="r">
              <a:lnSpc>
                <a:spcPts val="2120"/>
              </a:lnSpc>
            </a:pPr>
            <a:r>
              <a:rPr lang="en-US" sz="918" b="1">
                <a:solidFill>
                  <a:srgbClr val="3D3D3D"/>
                </a:solidFill>
                <a:latin typeface="Montserrat Bold"/>
                <a:ea typeface="Montserrat Bold"/>
                <a:cs typeface="Montserrat Bold"/>
                <a:sym typeface="Montserrat Bold"/>
              </a:rPr>
              <a:t>TOTAL</a:t>
            </a:r>
          </a:p>
        </p:txBody>
      </p:sp>
      <p:sp>
        <p:nvSpPr>
          <p:cNvPr id="62" name="TextBox 62"/>
          <p:cNvSpPr txBox="1"/>
          <p:nvPr/>
        </p:nvSpPr>
        <p:spPr>
          <a:xfrm>
            <a:off x="6153824" y="2111169"/>
            <a:ext cx="584244" cy="319572"/>
          </a:xfrm>
          <a:prstGeom prst="rect">
            <a:avLst/>
          </a:prstGeom>
        </p:spPr>
        <p:txBody>
          <a:bodyPr lIns="0" tIns="0" rIns="0" bIns="0" rtlCol="0" anchor="t">
            <a:spAutoFit/>
          </a:bodyPr>
          <a:lstStyle/>
          <a:p>
            <a:pPr algn="l">
              <a:lnSpc>
                <a:spcPts val="1285"/>
              </a:lnSpc>
            </a:pPr>
            <a:r>
              <a:rPr lang="en-US" sz="918">
                <a:solidFill>
                  <a:srgbClr val="3D3D3D"/>
                </a:solidFill>
                <a:latin typeface="Montserrat"/>
                <a:ea typeface="Montserrat"/>
                <a:cs typeface="Montserrat"/>
                <a:sym typeface="Montserrat"/>
              </a:rPr>
              <a:t>INVOICE#</a:t>
            </a:r>
          </a:p>
        </p:txBody>
      </p:sp>
      <p:sp>
        <p:nvSpPr>
          <p:cNvPr id="63" name="TextBox 63"/>
          <p:cNvSpPr txBox="1"/>
          <p:nvPr/>
        </p:nvSpPr>
        <p:spPr>
          <a:xfrm>
            <a:off x="6088035" y="3288826"/>
            <a:ext cx="731520" cy="156845"/>
          </a:xfrm>
          <a:prstGeom prst="rect">
            <a:avLst/>
          </a:prstGeom>
        </p:spPr>
        <p:txBody>
          <a:bodyPr lIns="0" tIns="0" rIns="0" bIns="0" rtlCol="0" anchor="t">
            <a:spAutoFit/>
          </a:bodyPr>
          <a:lstStyle/>
          <a:p>
            <a:pPr algn="l">
              <a:lnSpc>
                <a:spcPts val="1330"/>
              </a:lnSpc>
            </a:pPr>
            <a:r>
              <a:rPr lang="en-US" sz="950" b="1">
                <a:solidFill>
                  <a:srgbClr val="FFFFFF"/>
                </a:solidFill>
                <a:latin typeface="Montserrat Bold"/>
                <a:ea typeface="Montserrat Bold"/>
                <a:cs typeface="Montserrat Bold"/>
                <a:sym typeface="Montserrat Bold"/>
              </a:rPr>
              <a:t>TOTAL</a:t>
            </a:r>
          </a:p>
        </p:txBody>
      </p:sp>
      <p:sp>
        <p:nvSpPr>
          <p:cNvPr id="64" name="TextBox 64"/>
          <p:cNvSpPr txBox="1"/>
          <p:nvPr/>
        </p:nvSpPr>
        <p:spPr>
          <a:xfrm>
            <a:off x="6167994" y="6940351"/>
            <a:ext cx="600419" cy="230319"/>
          </a:xfrm>
          <a:prstGeom prst="rect">
            <a:avLst/>
          </a:prstGeom>
        </p:spPr>
        <p:txBody>
          <a:bodyPr wrap="square" lIns="0" tIns="0" rIns="0" bIns="0" rtlCol="0" anchor="t">
            <a:spAutoFit/>
          </a:bodyPr>
          <a:lstStyle/>
          <a:p>
            <a:pPr algn="ctr">
              <a:lnSpc>
                <a:spcPts val="2120"/>
              </a:lnSpc>
            </a:pPr>
            <a:r>
              <a:rPr lang="en-US" sz="894" b="1" dirty="0">
                <a:solidFill>
                  <a:srgbClr val="3D3D3D"/>
                </a:solidFill>
                <a:latin typeface="Montserrat Bold"/>
                <a:ea typeface="Montserrat Bold"/>
                <a:cs typeface="Montserrat Bold"/>
                <a:sym typeface="Montserrat Bold"/>
              </a:rPr>
              <a:t>{{TOTAL}}</a:t>
            </a:r>
          </a:p>
        </p:txBody>
      </p:sp>
      <p:sp>
        <p:nvSpPr>
          <p:cNvPr id="66" name="TextBox 66"/>
          <p:cNvSpPr txBox="1"/>
          <p:nvPr/>
        </p:nvSpPr>
        <p:spPr>
          <a:xfrm>
            <a:off x="6255204" y="2283884"/>
            <a:ext cx="1301295" cy="142860"/>
          </a:xfrm>
          <a:prstGeom prst="rect">
            <a:avLst/>
          </a:prstGeom>
        </p:spPr>
        <p:txBody>
          <a:bodyPr wrap="square" lIns="0" tIns="0" rIns="0" bIns="0" rtlCol="0" anchor="t">
            <a:spAutoFit/>
          </a:bodyPr>
          <a:lstStyle/>
          <a:p>
            <a:pPr algn="l">
              <a:lnSpc>
                <a:spcPts val="1214"/>
              </a:lnSpc>
            </a:pPr>
            <a:r>
              <a:rPr lang="en-US" sz="867" dirty="0">
                <a:solidFill>
                  <a:srgbClr val="3D3D3D"/>
                </a:solidFill>
                <a:latin typeface="Montserrat"/>
                <a:ea typeface="Montserrat"/>
                <a:cs typeface="Montserrat"/>
                <a:sym typeface="Montserrat"/>
              </a:rPr>
              <a:t>{{INVOICE_NO}}</a:t>
            </a:r>
          </a:p>
        </p:txBody>
      </p:sp>
      <p:sp>
        <p:nvSpPr>
          <p:cNvPr id="68" name="TextBox 68"/>
          <p:cNvSpPr txBox="1"/>
          <p:nvPr/>
        </p:nvSpPr>
        <p:spPr>
          <a:xfrm>
            <a:off x="4768850" y="4039239"/>
            <a:ext cx="8809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{{item_2_qty}}</a:t>
            </a:r>
          </a:p>
        </p:txBody>
      </p:sp>
      <p:sp>
        <p:nvSpPr>
          <p:cNvPr id="71" name="TextBox 71"/>
          <p:cNvSpPr txBox="1"/>
          <p:nvPr/>
        </p:nvSpPr>
        <p:spPr>
          <a:xfrm>
            <a:off x="4806950" y="3671029"/>
            <a:ext cx="8047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{{item_1_qty}}</a:t>
            </a:r>
          </a:p>
        </p:txBody>
      </p:sp>
      <p:sp>
        <p:nvSpPr>
          <p:cNvPr id="74" name="TextBox 74"/>
          <p:cNvSpPr txBox="1"/>
          <p:nvPr/>
        </p:nvSpPr>
        <p:spPr>
          <a:xfrm>
            <a:off x="6064250" y="6425415"/>
            <a:ext cx="80790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{{SUBTOTAL}}</a:t>
            </a:r>
          </a:p>
        </p:txBody>
      </p:sp>
      <p:sp>
        <p:nvSpPr>
          <p:cNvPr id="75" name="TextBox 75"/>
          <p:cNvSpPr txBox="1"/>
          <p:nvPr/>
        </p:nvSpPr>
        <p:spPr>
          <a:xfrm>
            <a:off x="6153824" y="6689317"/>
            <a:ext cx="429684"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{{TAX}}</a:t>
            </a:r>
          </a:p>
        </p:txBody>
      </p:sp>
      <p:sp>
        <p:nvSpPr>
          <p:cNvPr id="76" name="TextBox 76"/>
          <p:cNvSpPr txBox="1"/>
          <p:nvPr/>
        </p:nvSpPr>
        <p:spPr>
          <a:xfrm>
            <a:off x="755909" y="2180387"/>
            <a:ext cx="2286000" cy="654923"/>
          </a:xfrm>
          <a:prstGeom prst="rect">
            <a:avLst/>
          </a:prstGeom>
        </p:spPr>
        <p:txBody>
          <a:bodyPr lIns="0" tIns="0" rIns="0" bIns="0" rtlCol="0" anchor="t">
            <a:spAutoFit/>
          </a:bodyPr>
          <a:lstStyle/>
          <a:p>
            <a:pPr algn="just">
              <a:lnSpc>
                <a:spcPts val="1279"/>
              </a:lnSpc>
            </a:pPr>
            <a:r>
              <a:rPr lang="en-US" sz="900" dirty="0">
                <a:solidFill>
                  <a:srgbClr val="8A8C8E"/>
                </a:solidFill>
                <a:latin typeface="Open Sans"/>
                <a:ea typeface="Open Sans"/>
                <a:cs typeface="Open Sans"/>
                <a:sym typeface="Open Sans"/>
              </a:rPr>
              <a:t>{{INVOICE_DATE}}</a:t>
            </a:r>
          </a:p>
          <a:p>
            <a:pPr algn="just">
              <a:lnSpc>
                <a:spcPts val="1279"/>
              </a:lnSpc>
            </a:pPr>
            <a:r>
              <a:rPr lang="en-US" sz="900" dirty="0">
                <a:solidFill>
                  <a:srgbClr val="8A8C8E"/>
                </a:solidFill>
                <a:latin typeface="Open Sans"/>
                <a:ea typeface="Open Sans"/>
                <a:cs typeface="Open Sans"/>
                <a:sym typeface="Open Sans"/>
              </a:rPr>
              <a:t>{{COUNTRY}}</a:t>
            </a:r>
          </a:p>
          <a:p>
            <a:pPr algn="just">
              <a:lnSpc>
                <a:spcPts val="1279"/>
              </a:lnSpc>
            </a:pPr>
            <a:r>
              <a:rPr lang="en-US" sz="900" dirty="0">
                <a:solidFill>
                  <a:srgbClr val="8A8C8E"/>
                </a:solidFill>
                <a:latin typeface="Open Sans"/>
                <a:ea typeface="Open Sans"/>
                <a:cs typeface="Open Sans"/>
                <a:sym typeface="Open Sans"/>
              </a:rPr>
              <a:t>{{EMAIL}}</a:t>
            </a:r>
          </a:p>
          <a:p>
            <a:pPr algn="l">
              <a:lnSpc>
                <a:spcPts val="1279"/>
              </a:lnSpc>
            </a:pPr>
            <a:r>
              <a:rPr lang="en-US" sz="900" dirty="0">
                <a:solidFill>
                  <a:srgbClr val="8A8C8E"/>
                </a:solidFill>
                <a:latin typeface="Open Sans"/>
                <a:ea typeface="Open Sans"/>
                <a:cs typeface="Open Sans"/>
                <a:sym typeface="Open Sans"/>
              </a:rPr>
              <a:t>{{PHONE}} </a:t>
            </a:r>
          </a:p>
        </p:txBody>
      </p:sp>
      <p:sp>
        <p:nvSpPr>
          <p:cNvPr id="77" name="TextBox 77"/>
          <p:cNvSpPr txBox="1"/>
          <p:nvPr/>
        </p:nvSpPr>
        <p:spPr>
          <a:xfrm>
            <a:off x="755909" y="1887322"/>
            <a:ext cx="2926080" cy="216149"/>
          </a:xfrm>
          <a:prstGeom prst="rect">
            <a:avLst/>
          </a:prstGeom>
        </p:spPr>
        <p:txBody>
          <a:bodyPr wrap="square" lIns="0" tIns="0" rIns="0" bIns="0" rtlCol="0" anchor="t">
            <a:spAutoFit/>
          </a:bodyPr>
          <a:lstStyle/>
          <a:p>
            <a:pPr algn="l">
              <a:lnSpc>
                <a:spcPts val="1820"/>
              </a:lnSpc>
            </a:pPr>
            <a:r>
              <a:rPr lang="en-US" sz="1300" b="1" spc="13" dirty="0">
                <a:solidFill>
                  <a:srgbClr val="303642"/>
                </a:solidFill>
                <a:latin typeface="Open Sans Bold"/>
                <a:ea typeface="Open Sans Bold"/>
                <a:cs typeface="Open Sans Bold"/>
                <a:sym typeface="Open Sans Bold"/>
              </a:rPr>
              <a:t>{{CUSTOMER_NAME}}</a:t>
            </a:r>
          </a:p>
        </p:txBody>
      </p:sp>
      <p:grpSp>
        <p:nvGrpSpPr>
          <p:cNvPr id="94" name="Group 19">
            <a:extLst>
              <a:ext uri="{FF2B5EF4-FFF2-40B4-BE49-F238E27FC236}">
                <a16:creationId xmlns:a16="http://schemas.microsoft.com/office/drawing/2014/main" id="{857FEE61-3809-3D1E-F7B7-76360FD8AC01}"/>
              </a:ext>
            </a:extLst>
          </p:cNvPr>
          <p:cNvGrpSpPr/>
          <p:nvPr/>
        </p:nvGrpSpPr>
        <p:grpSpPr>
          <a:xfrm>
            <a:off x="751701" y="4471751"/>
            <a:ext cx="6048207" cy="307026"/>
            <a:chOff x="0" y="0"/>
            <a:chExt cx="3002180" cy="152400"/>
          </a:xfrm>
        </p:grpSpPr>
        <p:sp>
          <p:nvSpPr>
            <p:cNvPr id="95" name="Freeform 20">
              <a:extLst>
                <a:ext uri="{FF2B5EF4-FFF2-40B4-BE49-F238E27FC236}">
                  <a16:creationId xmlns:a16="http://schemas.microsoft.com/office/drawing/2014/main" id="{ABAAF48D-1E66-0AED-816C-116130FF133A}"/>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{{ITEM_3_BG}}</a:t>
              </a:r>
            </a:p>
          </p:txBody>
        </p:sp>
      </p:grpSp>
      <p:grpSp>
        <p:nvGrpSpPr>
          <p:cNvPr id="96" name="Group 21">
            <a:extLst>
              <a:ext uri="{FF2B5EF4-FFF2-40B4-BE49-F238E27FC236}">
                <a16:creationId xmlns:a16="http://schemas.microsoft.com/office/drawing/2014/main" id="{2ECAEE07-A7CB-7A47-F347-98CEF9FB797B}"/>
              </a:ext>
            </a:extLst>
          </p:cNvPr>
          <p:cNvGrpSpPr/>
          <p:nvPr/>
        </p:nvGrpSpPr>
        <p:grpSpPr>
          <a:xfrm>
            <a:off x="751701" y="4851069"/>
            <a:ext cx="6048207" cy="307026"/>
            <a:chOff x="0" y="0"/>
            <a:chExt cx="3002180" cy="152400"/>
          </a:xfrm>
        </p:grpSpPr>
        <p:sp>
          <p:nvSpPr>
            <p:cNvPr id="97" name="Freeform 22">
              <a:extLst>
                <a:ext uri="{FF2B5EF4-FFF2-40B4-BE49-F238E27FC236}">
                  <a16:creationId xmlns:a16="http://schemas.microsoft.com/office/drawing/2014/main" id="{32C2E3B8-C442-7362-65BF-4805D549D611}"/>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{{ITEM_4_BG}}</a:t>
              </a:r>
            </a:p>
          </p:txBody>
        </p:sp>
      </p:grpSp>
      <p:sp>
        <p:nvSpPr>
          <p:cNvPr id="98" name="TextBox 36">
            <a:extLst>
              <a:ext uri="{FF2B5EF4-FFF2-40B4-BE49-F238E27FC236}">
                <a16:creationId xmlns:a16="http://schemas.microsoft.com/office/drawing/2014/main" id="{6C4E04A8-6889-5F35-0EDC-59A82E5675AC}"/>
              </a:ext>
            </a:extLst>
          </p:cNvPr>
          <p:cNvSpPr txBox="1"/>
          <p:nvPr/>
        </p:nvSpPr>
        <p:spPr>
          <a:xfrm>
            <a:off x="832342" y="4443905"/>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{{ITEM_3_NAME}}</a:t>
            </a:r>
          </a:p>
        </p:txBody>
      </p:sp>
      <p:sp>
        <p:nvSpPr>
          <p:cNvPr id="99" name="TextBox 37">
            <a:extLst>
              <a:ext uri="{FF2B5EF4-FFF2-40B4-BE49-F238E27FC236}">
                <a16:creationId xmlns:a16="http://schemas.microsoft.com/office/drawing/2014/main" id="{103D453A-5839-C6AD-D522-72D71C28042C}"/>
              </a:ext>
            </a:extLst>
          </p:cNvPr>
          <p:cNvSpPr txBox="1"/>
          <p:nvPr/>
        </p:nvSpPr>
        <p:spPr>
          <a:xfrm>
            <a:off x="832342" y="4823222"/>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{{ITEM_4_NAME}}</a:t>
            </a:r>
          </a:p>
        </p:txBody>
      </p:sp>
      <p:sp>
        <p:nvSpPr>
          <p:cNvPr id="100" name="TextBox 43">
            <a:extLst>
              <a:ext uri="{FF2B5EF4-FFF2-40B4-BE49-F238E27FC236}">
                <a16:creationId xmlns:a16="http://schemas.microsoft.com/office/drawing/2014/main" id="{FF303B85-7E2A-1E79-092E-D82BEB562057}"/>
              </a:ext>
            </a:extLst>
          </p:cNvPr>
          <p:cNvSpPr txBox="1"/>
          <p:nvPr/>
        </p:nvSpPr>
        <p:spPr>
          <a:xfrm>
            <a:off x="3799451" y="4432063"/>
            <a:ext cx="1574791"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{{ITEM_3_PRICE}}</a:t>
            </a:r>
          </a:p>
        </p:txBody>
      </p:sp>
      <p:sp>
        <p:nvSpPr>
          <p:cNvPr id="101" name="TextBox 44">
            <a:extLst>
              <a:ext uri="{FF2B5EF4-FFF2-40B4-BE49-F238E27FC236}">
                <a16:creationId xmlns:a16="http://schemas.microsoft.com/office/drawing/2014/main" id="{F221544B-D4EB-16D2-A2AC-30F66290A422}"/>
              </a:ext>
            </a:extLst>
          </p:cNvPr>
          <p:cNvSpPr txBox="1"/>
          <p:nvPr/>
        </p:nvSpPr>
        <p:spPr>
          <a:xfrm>
            <a:off x="5780642" y="4445848"/>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{{ITEM_3_TOTAL}}</a:t>
            </a:r>
          </a:p>
        </p:txBody>
      </p:sp>
      <p:sp>
        <p:nvSpPr>
          <p:cNvPr id="102" name="TextBox 47">
            <a:extLst>
              <a:ext uri="{FF2B5EF4-FFF2-40B4-BE49-F238E27FC236}">
                <a16:creationId xmlns:a16="http://schemas.microsoft.com/office/drawing/2014/main" id="{59158364-B4F9-E4F5-AFA4-54300CD8C7D8}"/>
              </a:ext>
            </a:extLst>
          </p:cNvPr>
          <p:cNvSpPr txBox="1"/>
          <p:nvPr/>
        </p:nvSpPr>
        <p:spPr>
          <a:xfrm>
            <a:off x="3799451" y="4822268"/>
            <a:ext cx="1011880"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{{ITEM_4_PRICE}}</a:t>
            </a:r>
          </a:p>
        </p:txBody>
      </p:sp>
      <p:sp>
        <p:nvSpPr>
          <p:cNvPr id="103" name="TextBox 48">
            <a:extLst>
              <a:ext uri="{FF2B5EF4-FFF2-40B4-BE49-F238E27FC236}">
                <a16:creationId xmlns:a16="http://schemas.microsoft.com/office/drawing/2014/main" id="{907079DF-5925-6CB7-7E54-273578727985}"/>
              </a:ext>
            </a:extLst>
          </p:cNvPr>
          <p:cNvSpPr txBox="1"/>
          <p:nvPr/>
        </p:nvSpPr>
        <p:spPr>
          <a:xfrm>
            <a:off x="5769352" y="4829649"/>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{{ITEM_4_TOTAL}}</a:t>
            </a:r>
          </a:p>
        </p:txBody>
      </p:sp>
      <p:sp>
        <p:nvSpPr>
          <p:cNvPr id="104" name="TextBox 68">
            <a:extLst>
              <a:ext uri="{FF2B5EF4-FFF2-40B4-BE49-F238E27FC236}">
                <a16:creationId xmlns:a16="http://schemas.microsoft.com/office/drawing/2014/main" id="{A8A93B28-10E8-011A-5134-4860648C54EE}"/>
              </a:ext>
            </a:extLst>
          </p:cNvPr>
          <p:cNvSpPr txBox="1"/>
          <p:nvPr/>
        </p:nvSpPr>
        <p:spPr>
          <a:xfrm>
            <a:off x="4764642" y="4811161"/>
            <a:ext cx="8809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{{item_4_qty}}</a:t>
            </a:r>
          </a:p>
        </p:txBody>
      </p:sp>
      <p:sp>
        <p:nvSpPr>
          <p:cNvPr id="105" name="TextBox 71">
            <a:extLst>
              <a:ext uri="{FF2B5EF4-FFF2-40B4-BE49-F238E27FC236}">
                <a16:creationId xmlns:a16="http://schemas.microsoft.com/office/drawing/2014/main" id="{4C8C4A19-2BA5-050C-EC52-2A357CDCA484}"/>
              </a:ext>
            </a:extLst>
          </p:cNvPr>
          <p:cNvSpPr txBox="1"/>
          <p:nvPr/>
        </p:nvSpPr>
        <p:spPr>
          <a:xfrm>
            <a:off x="4802742" y="4442951"/>
            <a:ext cx="808936"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{{item_3_qty}}</a:t>
            </a:r>
          </a:p>
        </p:txBody>
      </p:sp>
      <p:grpSp>
        <p:nvGrpSpPr>
          <p:cNvPr id="141" name="Group 19">
            <a:extLst>
              <a:ext uri="{FF2B5EF4-FFF2-40B4-BE49-F238E27FC236}">
                <a16:creationId xmlns:a16="http://schemas.microsoft.com/office/drawing/2014/main" id="{3C341247-9721-2CCD-D456-EDB218E5515F}"/>
              </a:ext>
            </a:extLst>
          </p:cNvPr>
          <p:cNvGrpSpPr/>
          <p:nvPr/>
        </p:nvGrpSpPr>
        <p:grpSpPr>
          <a:xfrm>
            <a:off x="751701" y="5241243"/>
            <a:ext cx="6048207" cy="307026"/>
            <a:chOff x="0" y="0"/>
            <a:chExt cx="3002180" cy="152400"/>
          </a:xfrm>
        </p:grpSpPr>
        <p:sp>
          <p:nvSpPr>
            <p:cNvPr id="142" name="Freeform 20">
              <a:extLst>
                <a:ext uri="{FF2B5EF4-FFF2-40B4-BE49-F238E27FC236}">
                  <a16:creationId xmlns:a16="http://schemas.microsoft.com/office/drawing/2014/main" id="{7BE1E9F0-F84A-998F-0C24-2F8F47E9668B}"/>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{{ITEM_5_BG}}</a:t>
              </a:r>
            </a:p>
          </p:txBody>
        </p:sp>
      </p:grpSp>
      <p:grpSp>
        <p:nvGrpSpPr>
          <p:cNvPr id="143" name="Group 21">
            <a:extLst>
              <a:ext uri="{FF2B5EF4-FFF2-40B4-BE49-F238E27FC236}">
                <a16:creationId xmlns:a16="http://schemas.microsoft.com/office/drawing/2014/main" id="{FE866141-9D33-8E27-01D6-88A3A2D5B150}"/>
              </a:ext>
            </a:extLst>
          </p:cNvPr>
          <p:cNvGrpSpPr/>
          <p:nvPr/>
        </p:nvGrpSpPr>
        <p:grpSpPr>
          <a:xfrm>
            <a:off x="751701" y="5620561"/>
            <a:ext cx="6048207" cy="307026"/>
            <a:chOff x="0" y="0"/>
            <a:chExt cx="3002180" cy="152400"/>
          </a:xfrm>
        </p:grpSpPr>
        <p:sp>
          <p:nvSpPr>
            <p:cNvPr id="144" name="Freeform 22">
              <a:extLst>
                <a:ext uri="{FF2B5EF4-FFF2-40B4-BE49-F238E27FC236}">
                  <a16:creationId xmlns:a16="http://schemas.microsoft.com/office/drawing/2014/main" id="{27087F0D-7133-32AC-8800-9EE7DC7A0C0B}"/>
                </a:ext>
              </a:extLst>
            </p:cNvPr>
            <p:cNvSpPr/>
            <p:nvPr/>
          </p:nvSpPr>
          <p:spPr>
            <a:xfrm>
              <a:off x="0" y="0"/>
              <a:ext cx="3002180" cy="152400"/>
            </a:xfrm>
            <a:custGeom>
              <a:avLst/>
              <a:gdLst/>
              <a:ahLst/>
              <a:cxnLst/>
              <a:rect l="l" t="t" r="r" b="b"/>
              <a:pathLst>
                <a:path w="3002180" h="152400">
                  <a:moveTo>
                    <a:pt x="0" y="0"/>
                  </a:moveTo>
                  <a:lnTo>
                    <a:pt x="3002180" y="0"/>
                  </a:lnTo>
                  <a:lnTo>
                    <a:pt x="3002180" y="152400"/>
                  </a:lnTo>
                  <a:lnTo>
                    <a:pt x="0" y="152400"/>
                  </a:lnTo>
                  <a:close/>
                </a:path>
              </a:pathLst>
            </a:custGeom>
            <a:solidFill>
              <a:srgbClr val="EFEFEF"/>
            </a:solidFill>
          </p:spPr>
          <p:txBody>
            <a:bodyPr/>
            <a:lstStyle/>
            <a:p>
              <a:r>
                <a:rPr lang="en-US" dirty="0"/>
                <a:t>{{ITEM_6_BG}}</a:t>
              </a:r>
            </a:p>
          </p:txBody>
        </p:sp>
      </p:grpSp>
      <p:sp>
        <p:nvSpPr>
          <p:cNvPr id="145" name="TextBox 36">
            <a:extLst>
              <a:ext uri="{FF2B5EF4-FFF2-40B4-BE49-F238E27FC236}">
                <a16:creationId xmlns:a16="http://schemas.microsoft.com/office/drawing/2014/main" id="{DBDB3A97-914C-F95E-6F3C-5680743DFB0C}"/>
              </a:ext>
            </a:extLst>
          </p:cNvPr>
          <p:cNvSpPr txBox="1"/>
          <p:nvPr/>
        </p:nvSpPr>
        <p:spPr>
          <a:xfrm>
            <a:off x="832342" y="5213397"/>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{{ITEM_5_NAME}}</a:t>
            </a:r>
          </a:p>
        </p:txBody>
      </p:sp>
      <p:sp>
        <p:nvSpPr>
          <p:cNvPr id="146" name="TextBox 37">
            <a:extLst>
              <a:ext uri="{FF2B5EF4-FFF2-40B4-BE49-F238E27FC236}">
                <a16:creationId xmlns:a16="http://schemas.microsoft.com/office/drawing/2014/main" id="{F5599D5F-0BDA-426F-8FB5-8B9D4B86DAF6}"/>
              </a:ext>
            </a:extLst>
          </p:cNvPr>
          <p:cNvSpPr txBox="1"/>
          <p:nvPr/>
        </p:nvSpPr>
        <p:spPr>
          <a:xfrm>
            <a:off x="832342" y="5592714"/>
            <a:ext cx="1723444" cy="248419"/>
          </a:xfrm>
          <a:prstGeom prst="rect">
            <a:avLst/>
          </a:prstGeom>
        </p:spPr>
        <p:txBody>
          <a:bodyPr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{{ITEM_6_NAME}}</a:t>
            </a:r>
          </a:p>
        </p:txBody>
      </p:sp>
      <p:sp>
        <p:nvSpPr>
          <p:cNvPr id="147" name="TextBox 44">
            <a:extLst>
              <a:ext uri="{FF2B5EF4-FFF2-40B4-BE49-F238E27FC236}">
                <a16:creationId xmlns:a16="http://schemas.microsoft.com/office/drawing/2014/main" id="{677B7E77-B266-2DB1-8F32-6445DD48097C}"/>
              </a:ext>
            </a:extLst>
          </p:cNvPr>
          <p:cNvSpPr txBox="1"/>
          <p:nvPr/>
        </p:nvSpPr>
        <p:spPr>
          <a:xfrm>
            <a:off x="5755242" y="5207246"/>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{{ITEM_6_TOTAL}}</a:t>
            </a:r>
          </a:p>
        </p:txBody>
      </p:sp>
      <p:sp>
        <p:nvSpPr>
          <p:cNvPr id="148" name="TextBox 47">
            <a:extLst>
              <a:ext uri="{FF2B5EF4-FFF2-40B4-BE49-F238E27FC236}">
                <a16:creationId xmlns:a16="http://schemas.microsoft.com/office/drawing/2014/main" id="{ACDFE6F9-0BB9-C1FA-6604-9610EDED213B}"/>
              </a:ext>
            </a:extLst>
          </p:cNvPr>
          <p:cNvSpPr txBox="1"/>
          <p:nvPr/>
        </p:nvSpPr>
        <p:spPr>
          <a:xfrm>
            <a:off x="3799451" y="5591760"/>
            <a:ext cx="1011880"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{{ITEM_6_PRICE}}</a:t>
            </a:r>
          </a:p>
        </p:txBody>
      </p:sp>
      <p:sp>
        <p:nvSpPr>
          <p:cNvPr id="149" name="TextBox 48">
            <a:extLst>
              <a:ext uri="{FF2B5EF4-FFF2-40B4-BE49-F238E27FC236}">
                <a16:creationId xmlns:a16="http://schemas.microsoft.com/office/drawing/2014/main" id="{9790A272-5EFE-8646-CCF7-5980FBF4F91A}"/>
              </a:ext>
            </a:extLst>
          </p:cNvPr>
          <p:cNvSpPr txBox="1"/>
          <p:nvPr/>
        </p:nvSpPr>
        <p:spPr>
          <a:xfrm>
            <a:off x="5769352" y="5599141"/>
            <a:ext cx="1061651"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{{ITEM_6_TOTAL}}</a:t>
            </a:r>
          </a:p>
        </p:txBody>
      </p:sp>
      <p:sp>
        <p:nvSpPr>
          <p:cNvPr id="150" name="TextBox 68">
            <a:extLst>
              <a:ext uri="{FF2B5EF4-FFF2-40B4-BE49-F238E27FC236}">
                <a16:creationId xmlns:a16="http://schemas.microsoft.com/office/drawing/2014/main" id="{6D0CF89C-0C06-C0D9-B45B-4235190B25B7}"/>
              </a:ext>
            </a:extLst>
          </p:cNvPr>
          <p:cNvSpPr txBox="1"/>
          <p:nvPr/>
        </p:nvSpPr>
        <p:spPr>
          <a:xfrm>
            <a:off x="4764642" y="5580653"/>
            <a:ext cx="880928"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{{item_6_qty}}</a:t>
            </a:r>
          </a:p>
        </p:txBody>
      </p:sp>
      <p:sp>
        <p:nvSpPr>
          <p:cNvPr id="151" name="TextBox 71">
            <a:extLst>
              <a:ext uri="{FF2B5EF4-FFF2-40B4-BE49-F238E27FC236}">
                <a16:creationId xmlns:a16="http://schemas.microsoft.com/office/drawing/2014/main" id="{8214ECF0-01EA-2C87-0E4F-428CE3817648}"/>
              </a:ext>
            </a:extLst>
          </p:cNvPr>
          <p:cNvSpPr txBox="1"/>
          <p:nvPr/>
        </p:nvSpPr>
        <p:spPr>
          <a:xfrm>
            <a:off x="4802742" y="5212443"/>
            <a:ext cx="808936" cy="250325"/>
          </a:xfrm>
          <a:prstGeom prst="rect">
            <a:avLst/>
          </a:prstGeom>
        </p:spPr>
        <p:txBody>
          <a:bodyPr wrap="square" lIns="0" tIns="0" rIns="0" bIns="0" rtlCol="0" anchor="t">
            <a:spAutoFit/>
          </a:bodyPr>
          <a:lstStyle/>
          <a:p>
            <a:pPr algn="ctr">
              <a:lnSpc>
                <a:spcPts val="2296"/>
              </a:lnSpc>
            </a:pPr>
            <a:r>
              <a:rPr lang="en-US" sz="918" dirty="0">
                <a:solidFill>
                  <a:srgbClr val="3D3D3D"/>
                </a:solidFill>
                <a:latin typeface="Montserrat"/>
                <a:ea typeface="Montserrat"/>
                <a:cs typeface="Montserrat"/>
                <a:sym typeface="Montserrat"/>
              </a:rPr>
              <a:t>{{item_5_qty}}</a:t>
            </a:r>
          </a:p>
        </p:txBody>
      </p:sp>
      <p:sp>
        <p:nvSpPr>
          <p:cNvPr id="152" name="TextBox 47">
            <a:extLst>
              <a:ext uri="{FF2B5EF4-FFF2-40B4-BE49-F238E27FC236}">
                <a16:creationId xmlns:a16="http://schemas.microsoft.com/office/drawing/2014/main" id="{ADC82F91-9833-0F4C-494B-4974C76FFEA9}"/>
              </a:ext>
            </a:extLst>
          </p:cNvPr>
          <p:cNvSpPr txBox="1"/>
          <p:nvPr/>
        </p:nvSpPr>
        <p:spPr>
          <a:xfrm>
            <a:off x="3799451" y="5217008"/>
            <a:ext cx="1011880" cy="250325"/>
          </a:xfrm>
          <a:prstGeom prst="rect">
            <a:avLst/>
          </a:prstGeom>
        </p:spPr>
        <p:txBody>
          <a:bodyPr wrap="square" lIns="0" tIns="0" rIns="0" bIns="0" rtlCol="0" anchor="t">
            <a:spAutoFit/>
          </a:bodyPr>
          <a:lstStyle/>
          <a:p>
            <a:pPr algn="just">
              <a:lnSpc>
                <a:spcPts val="2296"/>
              </a:lnSpc>
            </a:pPr>
            <a:r>
              <a:rPr lang="en-US" sz="918" dirty="0">
                <a:solidFill>
                  <a:srgbClr val="3D3D3D"/>
                </a:solidFill>
                <a:latin typeface="Montserrat"/>
                <a:ea typeface="Montserrat"/>
                <a:cs typeface="Montserrat"/>
                <a:sym typeface="Montserrat"/>
              </a:rPr>
              <a:t>{{ITEM_5_PRICE}}</a:t>
            </a:r>
          </a:p>
        </p:txBody>
      </p:sp>
      <p:pic>
        <p:nvPicPr>
          <p:cNvPr id="5" name="Picture 4">
            <a:extLst>
              <a:ext uri="{FF2B5EF4-FFF2-40B4-BE49-F238E27FC236}">
                <a16:creationId xmlns:a16="http://schemas.microsoft.com/office/drawing/2014/main" id="{EF34D137-D437-049A-0EB0-A26F9BCD7C11}"/>
              </a:ext>
            </a:extLst>
          </p:cNvPr>
          <p:cNvPicPr>
            <a:picLocks noChangeAspect="1"/>
          </p:cNvPicPr>
          <p:nvPr/>
        </p:nvPicPr>
        <p:blipFill>
          <a:blip r:embed="rId6">
            <a:alphaModFix amt="10000"/>
            <a:extLst>
              <a:ext uri="{28A0092B-C50C-407E-A947-70E740481C1C}">
                <a14:useLocalDpi xmlns:a14="http://schemas.microsoft.com/office/drawing/2010/main" val="0"/>
              </a:ext>
            </a:extLst>
          </a:blip>
          <a:stretch>
            <a:fillRect/>
          </a:stretch>
        </p:blipFill>
        <p:spPr>
          <a:xfrm>
            <a:off x="4880749" y="5858825"/>
            <a:ext cx="2280190" cy="2266536"/>
          </a:xfrm>
          <a:prstGeom prst="rect">
            <a:avLst/>
          </a:prstGeom>
        </p:spPr>
      </p:pic>
      <p:pic>
        <p:nvPicPr>
          <p:cNvPr id="24" name="Picture 23">
            <a:extLst>
              <a:ext uri="{FF2B5EF4-FFF2-40B4-BE49-F238E27FC236}">
                <a16:creationId xmlns:a16="http://schemas.microsoft.com/office/drawing/2014/main" id="{41539415-234F-634D-967F-A6DCB89640F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76" y="10297242"/>
            <a:ext cx="2319273" cy="601293"/>
          </a:xfrm>
          <a:prstGeom prst="rect">
            <a:avLst/>
          </a:prstGeom>
        </p:spPr>
      </p:pic>
      <p:pic>
        <p:nvPicPr>
          <p:cNvPr id="46" name="Picture 45">
            <a:extLst>
              <a:ext uri="{FF2B5EF4-FFF2-40B4-BE49-F238E27FC236}">
                <a16:creationId xmlns:a16="http://schemas.microsoft.com/office/drawing/2014/main" id="{22600E67-63ED-DB0B-3C25-1B6313980B1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flipH="1">
            <a:off x="1824349" y="9549926"/>
            <a:ext cx="100846" cy="100846"/>
          </a:xfrm>
          <a:prstGeom prst="rect">
            <a:avLst/>
          </a:prstGeom>
        </p:spPr>
      </p:pic>
      <p:pic>
        <p:nvPicPr>
          <p:cNvPr id="49" name="Picture 48">
            <a:extLst>
              <a:ext uri="{FF2B5EF4-FFF2-40B4-BE49-F238E27FC236}">
                <a16:creationId xmlns:a16="http://schemas.microsoft.com/office/drawing/2014/main" id="{5FF55A96-56E1-3750-28DC-CCFD62B77332}"/>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flipH="1">
            <a:off x="3154335" y="9549926"/>
            <a:ext cx="100846" cy="100846"/>
          </a:xfrm>
          <a:prstGeom prst="rect">
            <a:avLst/>
          </a:prstGeom>
        </p:spPr>
      </p:pic>
      <p:pic>
        <p:nvPicPr>
          <p:cNvPr id="50" name="Picture 49">
            <a:extLst>
              <a:ext uri="{FF2B5EF4-FFF2-40B4-BE49-F238E27FC236}">
                <a16:creationId xmlns:a16="http://schemas.microsoft.com/office/drawing/2014/main" id="{47A2D48D-F11A-E8F9-E4EA-E51A67F63B06}"/>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flipH="1">
            <a:off x="4717881" y="9544698"/>
            <a:ext cx="100846" cy="1008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431</Words>
  <Application>Microsoft Office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Montserrat</vt:lpstr>
      <vt:lpstr>Montserrat Bold</vt:lpstr>
      <vt:lpstr>Open Sans</vt:lpstr>
      <vt:lpstr>Calibri</vt:lpstr>
      <vt:lpstr>Aptos</vt:lpstr>
      <vt:lpstr>Open Sans Bold</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Professional Business invoice Template</dc:title>
  <cp:lastModifiedBy>Sadaka</cp:lastModifiedBy>
  <cp:revision>43</cp:revision>
  <dcterms:created xsi:type="dcterms:W3CDTF">2006-08-16T00:00:00Z</dcterms:created>
  <dcterms:modified xsi:type="dcterms:W3CDTF">2026-06-10T16:10:17Z</dcterms:modified>
  <dc:identifier>DAHMGeh2Ffc</dc:identifier>
</cp:coreProperties>
</file>